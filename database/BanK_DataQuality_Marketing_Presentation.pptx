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371600" y="2103120"/>
            <a:ext cx="91440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BanK Data Quality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C9A7"/>
                </a:solidFill>
                <a:latin typeface="Segoe UI"/>
              </a:defRPr>
            </a:pPr>
            <a:r>
              <a:t>Plateforme Intelligente de Qualite des Donnees Bancaires &amp; Conformite FATCA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0233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CE"/>
                </a:solidFill>
                <a:latin typeface="Segoe UI"/>
              </a:defRPr>
            </a:pPr>
            <a:r>
              <a:t>Solution complete pour detecter, suivre et corriger les anomalies</a:t>
            </a:r>
            <a:br/>
            <a:r>
              <a:t>dans les systemes d'information client tout en assurant la conformite reglementaire.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52160"/>
            <a:ext cx="12191695" cy="1005840"/>
          </a:xfrm>
          <a:prstGeom prst="rect">
            <a:avLst/>
          </a:prstGeom>
          <a:solidFill>
            <a:srgbClr val="11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5943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BFF"/>
                </a:solidFill>
                <a:latin typeface="Segoe UI"/>
              </a:defRPr>
            </a:pPr>
            <a:r>
              <a:t>18+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Pages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5943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BFF"/>
                </a:solidFill>
                <a:latin typeface="Segoe UI"/>
              </a:defRPr>
            </a:pPr>
            <a:r>
              <a:t>90+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Points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5943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BFF"/>
                </a:solidFill>
                <a:latin typeface="Segoe UI"/>
              </a:defRPr>
            </a:pPr>
            <a:r>
              <a:t>20+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Tables BD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5943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B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Roles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5943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B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6355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Types Client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73152" cy="4572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Le Defi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CCE"/>
                </a:solidFill>
                <a:latin typeface="Segoe UI"/>
              </a:defRPr>
            </a:pPr>
            <a:r>
              <a:t>Les banques font face a des defis critiques en matiere de qualite des donnees et de conformite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11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38328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Lacunes de Qualite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774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Segoe UI"/>
              </a:defRPr>
            </a:pPr>
            <a:r>
              <a:t>Enregistrements clients incoherents, incomplets ou en double entre les agences, source d'erreurs operationnelles et de risques reglementaires.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383280" cy="2011680"/>
          </a:xfrm>
          <a:prstGeom prst="roundRect">
            <a:avLst/>
          </a:prstGeom>
          <a:solidFill>
            <a:srgbClr val="11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645920"/>
            <a:ext cx="338328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19202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Pression FATCA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774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Segoe UI"/>
              </a:defRPr>
            </a:pPr>
            <a:r>
              <a:t>Le filtrage manuel des indices americains est lent, sujet aux erreurs et ne peut pas passer a l'echelle sur des centaines d'agences.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383280" cy="2011680"/>
          </a:xfrm>
          <a:prstGeom prst="roundRect">
            <a:avLst/>
          </a:prstGeom>
          <a:solidFill>
            <a:srgbClr val="11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338328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19202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Manque de Gouvernance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3774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Segoe UI"/>
              </a:defRPr>
            </a:pPr>
            <a:r>
              <a:t>Les corrections appliquees sans piste d'audit creent des vulnerabilites et des non-conformites.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023360"/>
            <a:ext cx="3383280" cy="2011680"/>
          </a:xfrm>
          <a:prstGeom prst="roundRect">
            <a:avLst/>
          </a:prstGeom>
          <a:solidFill>
            <a:srgbClr val="11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4023360"/>
            <a:ext cx="338328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42976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Systemes Cloisonnes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7548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Segoe UI"/>
              </a:defRPr>
            </a:pPr>
            <a:r>
              <a:t>Les donnees du core banking deconnectees des outils de suivi qualite — les problemes restent non detectes pendant des mois.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4023360"/>
            <a:ext cx="3383280" cy="2011680"/>
          </a:xfrm>
          <a:prstGeom prst="roundRect">
            <a:avLst/>
          </a:prstGeom>
          <a:solidFill>
            <a:srgbClr val="11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89120" y="4023360"/>
            <a:ext cx="338328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63440" y="42976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Aucun Progres Mesurable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7548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Segoe UI"/>
              </a:defRPr>
            </a:pPr>
            <a:r>
              <a:t>Sans KPI ni tableaux de bord, la direction ne peut pas suivre ni prouver l'amelioration de la qualite des donnees.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4023360"/>
            <a:ext cx="3383280" cy="2011680"/>
          </a:xfrm>
          <a:prstGeom prst="roundRect">
            <a:avLst/>
          </a:prstGeom>
          <a:solidFill>
            <a:srgbClr val="11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46720" y="4023360"/>
            <a:ext cx="338328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21040" y="42976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Processus Manuels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7548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Segoe UI"/>
              </a:defRPr>
            </a:pPr>
            <a:r>
              <a:t>Les corrections necessitent une re-saisie manuelle entre systemes, gaspillant des milliers d'heures par 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73152" cy="4572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Notre Solution — Plateforme Qualite de Bout en Bout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1645920" cy="64008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DETECTER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7373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CCE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Detection automatique</a:t>
            </a:r>
            <a:br/>
            <a:r>
              <a:t>des anomalies via</a:t>
            </a:r>
            <a:br/>
            <a:r>
              <a:t>regles configurables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80" y="1645920"/>
            <a:ext cx="1645920" cy="64008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TICKET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7373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CCE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Creation automatique</a:t>
            </a:r>
            <a:br/>
            <a:r>
              <a:t>de tickets et</a:t>
            </a:r>
            <a:br/>
            <a:r>
              <a:t>assignation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1645920" cy="640080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CORRIGER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17373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CCE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4688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Correction guidee</a:t>
            </a:r>
            <a:br/>
            <a:r>
              <a:t>avec automatisation</a:t>
            </a:r>
            <a:br/>
            <a:r>
              <a:t>RPA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645920"/>
            <a:ext cx="1645920" cy="64008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VALIDER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0" y="17373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CCE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4688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Validation 4-yeux</a:t>
            </a:r>
            <a:br/>
            <a:r>
              <a:t>par le superviseur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645920"/>
            <a:ext cx="1645920" cy="64008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RECONCILIER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17373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CCE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4688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Synchronisation</a:t>
            </a:r>
            <a:br/>
            <a:r>
              <a:t>et verification</a:t>
            </a:r>
            <a:br/>
            <a:r>
              <a:t>core banking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49840" y="1645920"/>
            <a:ext cx="1645920" cy="640080"/>
          </a:xfrm>
          <a:prstGeom prst="roundRect">
            <a:avLst/>
          </a:prstGeom>
          <a:solidFill>
            <a:srgbClr val="E84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RAPPORTER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0" y="24688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Tableaux de bord</a:t>
            </a:r>
            <a:br/>
            <a:r>
              <a:t>KPI et rapports</a:t>
            </a:r>
            <a:br/>
            <a:r>
              <a:t>reglementaires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474720"/>
            <a:ext cx="10698480" cy="36576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9A7"/>
                </a:solidFill>
                <a:latin typeface="Segoe UI"/>
              </a:defRPr>
            </a:pPr>
            <a:r>
              <a:t>Differenciateurs Cles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251960"/>
            <a:ext cx="54864" cy="32004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4206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Integration Core Banking Directe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572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Connexion directe a Informix/BSIC via JDBC — aucun middleware requis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4251960"/>
            <a:ext cx="54864" cy="32004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4206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Architecture Multi-Agences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572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Vues par agence avec supervision du siege — scalable de 1 a 500+ agences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5349240"/>
            <a:ext cx="54864" cy="32004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5303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Pipeline d'Automatisation Complet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669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De la detection a la reconciliation — de bout en bout sans re-saisie manuelle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5349240"/>
            <a:ext cx="54864" cy="32004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0" y="5303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Pret pour la Reglementation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669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Filtrage FATCA + validation 4-yeux + piste d'audit complete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73152" cy="4572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Controle Qualite Automatise des Donnees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A7"/>
                </a:solidFill>
                <a:latin typeface="Segoe UI"/>
              </a:defRPr>
            </a:pPr>
            <a:r>
              <a:t>"Detectez les problemes de qualite avant les regulateurs."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560320" cy="2926080"/>
          </a:xfrm>
          <a:prstGeom prst="roundRect">
            <a:avLst/>
          </a:prstGeom>
          <a:solidFill>
            <a:srgbClr val="11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  <a:latin typeface="Segoe UI"/>
              </a:defRPr>
            </a:pPr>
            <a:r>
              <a:t>Detection Multi-Types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2011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CCE"/>
                </a:solidFill>
                <a:latin typeface="Segoe UI"/>
              </a:defRPr>
            </a:pPr>
            <a:r>
              <a:t>Anomalies clients particuliers</a:t>
            </a:r>
          </a:p>
          <a:p>
            <a:pPr>
              <a:spcAft>
                <a:spcPts val="400"/>
              </a:spcAft>
              <a:defRPr sz="1200">
                <a:solidFill>
                  <a:srgbClr val="B0BCCE"/>
                </a:solidFill>
                <a:latin typeface="Segoe UI"/>
              </a:defRPr>
            </a:pPr>
            <a:r>
              <a:t>Anomalies clients entreprises</a:t>
            </a:r>
          </a:p>
          <a:p>
            <a:pPr>
              <a:spcAft>
                <a:spcPts val="400"/>
              </a:spcAft>
              <a:defRPr sz="1200">
                <a:solidFill>
                  <a:srgbClr val="B0BCCE"/>
                </a:solidFill>
                <a:latin typeface="Segoe UI"/>
              </a:defRPr>
            </a:pPr>
            <a:r>
              <a:t>Anomalies institutionnels</a:t>
            </a:r>
          </a:p>
          <a:p>
            <a:pPr>
              <a:spcAft>
                <a:spcPts val="400"/>
              </a:spcAft>
              <a:defRPr sz="1200">
                <a:solidFill>
                  <a:srgbClr val="B0BCCE"/>
                </a:solidFill>
                <a:latin typeface="Segoe UI"/>
              </a:defRPr>
            </a:pPr>
            <a:r>
              <a:t>Couverture 100% du portefeuille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554480"/>
            <a:ext cx="2560320" cy="2926080"/>
          </a:xfrm>
          <a:prstGeom prst="roundRect">
            <a:avLst/>
          </a:prstGeom>
          <a:solidFill>
            <a:srgbClr val="11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80" y="1691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  <a:latin typeface="Segoe UI"/>
              </a:defRPr>
            </a:pPr>
            <a:r>
              <a:t>Moteur de Regles Configurable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103120"/>
            <a:ext cx="2011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CCE"/>
                </a:solidFill>
                <a:latin typeface="Segoe UI"/>
              </a:defRPr>
            </a:pPr>
            <a:r>
              <a:t>Regles de validation via editeur SQL</a:t>
            </a:r>
          </a:p>
          <a:p>
            <a:pPr>
              <a:spcAft>
                <a:spcPts val="400"/>
              </a:spcAft>
              <a:defRPr sz="1200">
                <a:solidFill>
                  <a:srgbClr val="B0BCCE"/>
                </a:solidFill>
                <a:latin typeface="Segoe UI"/>
              </a:defRPr>
            </a:pPr>
            <a:r>
              <a:t>Requetes de detection pre-construites</a:t>
            </a:r>
          </a:p>
          <a:p>
            <a:pPr>
              <a:spcAft>
                <a:spcPts val="400"/>
              </a:spcAft>
              <a:defRPr sz="1200">
                <a:solidFill>
                  <a:srgbClr val="B0BCCE"/>
                </a:solidFill>
                <a:latin typeface="Segoe UI"/>
              </a:defRPr>
            </a:pPr>
            <a:r>
              <a:t>Activation/desactivation des regles</a:t>
            </a:r>
          </a:p>
          <a:p>
            <a:pPr>
              <a:spcAft>
                <a:spcPts val="400"/>
              </a:spcAft>
              <a:defRPr sz="1200">
                <a:solidFill>
                  <a:srgbClr val="B0BCCE"/>
                </a:solidFill>
                <a:latin typeface="Segoe UI"/>
              </a:defRPr>
            </a:pPr>
            <a:r>
              <a:t>Aucune dependance fournisseur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554480"/>
            <a:ext cx="2560320" cy="2926080"/>
          </a:xfrm>
          <a:prstGeom prst="roundRect">
            <a:avLst/>
          </a:prstGeom>
          <a:solidFill>
            <a:srgbClr val="11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1691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  <a:latin typeface="Segoe UI"/>
              </a:defRPr>
            </a:pPr>
            <a:r>
              <a:t>Suivi en Temps Reel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103120"/>
            <a:ext cx="2011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CCE"/>
                </a:solidFill>
                <a:latin typeface="Segoe UI"/>
              </a:defRPr>
            </a:pPr>
            <a:r>
              <a:t>Scan instantane des anomalies</a:t>
            </a:r>
          </a:p>
          <a:p>
            <a:pPr>
              <a:spcAft>
                <a:spcPts val="400"/>
              </a:spcAft>
              <a:defRPr sz="1200">
                <a:solidFill>
                  <a:srgbClr val="B0BCCE"/>
                </a:solidFill>
                <a:latin typeface="Segoe UI"/>
              </a:defRPr>
            </a:pPr>
            <a:r>
              <a:t>Suivi des statuts (detecte/en cours/corrige)</a:t>
            </a:r>
          </a:p>
          <a:p>
            <a:pPr>
              <a:spcAft>
                <a:spcPts val="400"/>
              </a:spcAft>
              <a:defRPr sz="1200">
                <a:solidFill>
                  <a:srgbClr val="B0BCCE"/>
                </a:solidFill>
                <a:latin typeface="Segoe UI"/>
              </a:defRPr>
            </a:pPr>
            <a:r>
              <a:t>Historique champ par champ</a:t>
            </a:r>
          </a:p>
          <a:p>
            <a:pPr>
              <a:spcAft>
                <a:spcPts val="400"/>
              </a:spcAft>
              <a:defRPr sz="1200">
                <a:solidFill>
                  <a:srgbClr val="B0BCCE"/>
                </a:solidFill>
                <a:latin typeface="Segoe UI"/>
              </a:defRPr>
            </a:pPr>
            <a:r>
              <a:t>Tracabilite complete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1554480"/>
            <a:ext cx="2560320" cy="2926080"/>
          </a:xfrm>
          <a:prstGeom prst="roundRect">
            <a:avLst/>
          </a:prstGeom>
          <a:solidFill>
            <a:srgbClr val="11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0" y="1691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  <a:latin typeface="Segoe UI"/>
              </a:defRPr>
            </a:pPr>
            <a:r>
              <a:t>Operations en Masse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2103120"/>
            <a:ext cx="2011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CCE"/>
                </a:solidFill>
                <a:latin typeface="Segoe UI"/>
              </a:defRPr>
            </a:pPr>
            <a:r>
              <a:t>Traitement massif des anomalies</a:t>
            </a:r>
          </a:p>
          <a:p>
            <a:pPr>
              <a:spcAft>
                <a:spcPts val="400"/>
              </a:spcAft>
              <a:defRPr sz="1200">
                <a:solidFill>
                  <a:srgbClr val="B0BCCE"/>
                </a:solidFill>
                <a:latin typeface="Segoe UI"/>
              </a:defRPr>
            </a:pPr>
            <a:r>
              <a:t>Filtrage par agence</a:t>
            </a:r>
          </a:p>
          <a:p>
            <a:pPr>
              <a:spcAft>
                <a:spcPts val="400"/>
              </a:spcAft>
              <a:defRPr sz="1200">
                <a:solidFill>
                  <a:srgbClr val="B0BCCE"/>
                </a:solidFill>
                <a:latin typeface="Segoe UI"/>
              </a:defRPr>
            </a:pPr>
            <a:r>
              <a:t>Recherche par identifiant client</a:t>
            </a:r>
          </a:p>
          <a:p>
            <a:pPr>
              <a:spcAft>
                <a:spcPts val="400"/>
              </a:spcAft>
              <a:defRPr sz="1200">
                <a:solidFill>
                  <a:srgbClr val="B0BCCE"/>
                </a:solidFill>
                <a:latin typeface="Segoe UI"/>
              </a:defRPr>
            </a:pPr>
            <a:r>
              <a:t>Export PDF pour reporting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754880"/>
            <a:ext cx="10698480" cy="1463040"/>
          </a:xfrm>
          <a:prstGeom prst="roundRect">
            <a:avLst/>
          </a:prstGeom>
          <a:solidFill>
            <a:srgbClr val="11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4937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Couverture de Detection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5394960"/>
            <a:ext cx="54864" cy="54864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80160" y="5394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Documents d'Identite Manquants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669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Particuliers sans identification valide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49039" y="5394960"/>
            <a:ext cx="54864" cy="54864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931919" y="5394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Enregistrement Incomplet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19" y="5669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Entreprises sans donnees d'immatriculation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5394960"/>
            <a:ext cx="54864" cy="54864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0" y="5394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Validation d'Adresse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669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Clients avec adresses incompletes ou invalides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52559" y="5394960"/>
            <a:ext cx="54864" cy="54864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35439" y="5394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Controle Tel/Email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39" y="5669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Coordonnees manquantes ou mal formatees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73152" cy="4572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Conformite FATCA — Toujours Pret pour l'Audit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107"/>
                </a:solidFill>
                <a:latin typeface="Segoe UI"/>
              </a:defRPr>
            </a:pPr>
            <a:r>
              <a:t>"Conformite FATCA en pilote automatique — reduit l'effort de filtrage manuel de 80%+"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029200" cy="4572000"/>
          </a:xfrm>
          <a:prstGeom prst="roundRect">
            <a:avLst/>
          </a:prstGeom>
          <a:solidFill>
            <a:srgbClr val="11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C107"/>
                </a:solidFill>
                <a:latin typeface="Segoe UI"/>
              </a:defRPr>
            </a:pPr>
            <a:r>
              <a:t>Filtrage Automatique des Indices US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331720"/>
            <a:ext cx="457200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Lieu de Naissance 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Detection automatique des lieux de naissance en territoire americain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3200400"/>
            <a:ext cx="457200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2918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Nationalite 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5661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Detection et verification du drapeau de nationalite americaine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4069080"/>
            <a:ext cx="457200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41605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Adresse 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4348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Correspondance de motifs d'adresses americaines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4937760"/>
            <a:ext cx="457200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50292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Numero de Telephone 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3035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Detection du format telephonique (+1, indicatifs US)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1554480"/>
            <a:ext cx="5394960" cy="2103120"/>
          </a:xfrm>
          <a:prstGeom prst="roundRect">
            <a:avLst/>
          </a:prstGeom>
          <a:solidFill>
            <a:srgbClr val="11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9360" y="1737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C107"/>
                </a:solidFill>
                <a:latin typeface="Segoe UI"/>
              </a:defRPr>
            </a:pPr>
            <a:r>
              <a:t>Workflow de Conformite a 4 Statuts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2286000"/>
            <a:ext cx="1097280" cy="4572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A verifier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788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CCE"/>
                </a:solidFill>
                <a:latin typeface="Segoe UI"/>
              </a:defRPr>
            </a:pPr>
            <a:r>
              <a:t>Signale pour revue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9520" y="2286000"/>
            <a:ext cx="1097280" cy="4572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Confirme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2788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CCE"/>
                </a:solidFill>
                <a:latin typeface="Segoe UI"/>
              </a:defRPr>
            </a:pPr>
            <a:r>
              <a:t>Personne US confirmee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69680" y="2286000"/>
            <a:ext cx="1097280" cy="457200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Exclu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2788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CCE"/>
                </a:solidFill>
                <a:latin typeface="Segoe UI"/>
              </a:defRPr>
            </a:pPr>
            <a:r>
              <a:t>Non US - valide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49840" y="2286000"/>
            <a:ext cx="1097280" cy="45720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En attente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0" y="2788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CCE"/>
                </a:solidFill>
                <a:latin typeface="Segoe UI"/>
              </a:defRPr>
            </a:pPr>
            <a:r>
              <a:t>Info supplementaire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0" y="3840480"/>
            <a:ext cx="5394960" cy="2286000"/>
          </a:xfrm>
          <a:prstGeom prst="roundRect">
            <a:avLst/>
          </a:prstGeom>
          <a:solidFill>
            <a:srgbClr val="11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09360" y="4023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C107"/>
                </a:solidFill>
                <a:latin typeface="Segoe UI"/>
              </a:defRPr>
            </a:pPr>
            <a:r>
              <a:t>Piste d'Audit &amp; Reporting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48056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B0BCCE"/>
                </a:solidFill>
                <a:latin typeface="Segoe UI"/>
              </a:defRPr>
            </a:pPr>
            <a:r>
              <a:t>  Journal d'audit FATCA complet avec historique des modifications</a:t>
            </a:r>
          </a:p>
          <a:p>
            <a:pPr>
              <a:spcAft>
                <a:spcPts val="300"/>
              </a:spcAft>
              <a:defRPr sz="1100">
                <a:solidFill>
                  <a:srgbClr val="B0BCCE"/>
                </a:solidFill>
                <a:latin typeface="Segoe UI"/>
              </a:defRPr>
            </a:pPr>
            <a:r>
              <a:t>  Statistiques FATCA par agence pour les responsables</a:t>
            </a:r>
          </a:p>
          <a:p>
            <a:pPr>
              <a:spcAft>
                <a:spcPts val="300"/>
              </a:spcAft>
              <a:defRPr sz="1100">
                <a:solidFill>
                  <a:srgbClr val="B0BCCE"/>
                </a:solidFill>
                <a:latin typeface="Segoe UI"/>
              </a:defRPr>
            </a:pPr>
            <a:r>
              <a:t>  Export PDF et transmission aux autorites fiscales</a:t>
            </a:r>
          </a:p>
          <a:p>
            <a:pPr>
              <a:spcAft>
                <a:spcPts val="300"/>
              </a:spcAft>
              <a:defRPr sz="1100">
                <a:solidFill>
                  <a:srgbClr val="B0BCCE"/>
                </a:solidFill>
                <a:latin typeface="Segoe UI"/>
              </a:defRPr>
            </a:pPr>
            <a:r>
              <a:t>  Suivi des clients FATCA individuels et entreprises</a:t>
            </a:r>
          </a:p>
          <a:p>
            <a:pPr>
              <a:spcAft>
                <a:spcPts val="300"/>
              </a:spcAft>
              <a:defRPr sz="1100">
                <a:solidFill>
                  <a:srgbClr val="B0BCCE"/>
                </a:solidFill>
                <a:latin typeface="Segoe UI"/>
              </a:defRPr>
            </a:pPr>
            <a:r>
              <a:t>  Classification et regroupement par indices</a:t>
            </a:r>
          </a:p>
          <a:p>
            <a:pPr>
              <a:spcAft>
                <a:spcPts val="300"/>
              </a:spcAft>
              <a:defRPr sz="1100">
                <a:solidFill>
                  <a:srgbClr val="B0BCCE"/>
                </a:solidFill>
                <a:latin typeface="Segoe UI"/>
              </a:defRPr>
            </a:pPr>
            <a:r>
              <a:t>  Pret pour l'inspection IRS/reglementaire a tout moment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73152" cy="4572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Validation 4-Yeux &amp; Gouvernance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A7"/>
                </a:solidFill>
                <a:latin typeface="Segoe UI"/>
              </a:defRPr>
            </a:pPr>
            <a:r>
              <a:t>"Gouvernance integree — aucune correction ne passe sans controle."</a:t>
            </a:r>
          </a:p>
        </p:txBody>
      </p:sp>
      <p:sp>
        <p:nvSpPr>
          <p:cNvPr id="6" name="Oval 5"/>
          <p:cNvSpPr/>
          <p:nvPr/>
        </p:nvSpPr>
        <p:spPr>
          <a:xfrm>
            <a:off x="1051560" y="1554480"/>
            <a:ext cx="640080" cy="64008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7BFF"/>
                </a:solidFill>
                <a:latin typeface="Segoe UI"/>
              </a:defRPr>
            </a:pPr>
            <a:r>
              <a:t>DETECTER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060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Anomalie decouverte</a:t>
            </a:r>
            <a:br/>
            <a:r>
              <a:t>via regle de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1691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CCE"/>
                </a:solidFill>
                <a:latin typeface="Segoe UI"/>
              </a:defRPr>
            </a:pPr>
            <a:r>
              <a:t>--&gt;</a:t>
            </a:r>
          </a:p>
        </p:txBody>
      </p:sp>
      <p:sp>
        <p:nvSpPr>
          <p:cNvPr id="10" name="Oval 9"/>
          <p:cNvSpPr/>
          <p:nvPr/>
        </p:nvSpPr>
        <p:spPr>
          <a:xfrm>
            <a:off x="2971800" y="1554480"/>
            <a:ext cx="640080" cy="64008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286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C5CE7"/>
                </a:solidFill>
                <a:latin typeface="Segoe UI"/>
              </a:defRPr>
            </a:pPr>
            <a:r>
              <a:t>TICKET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6060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Ticket de support</a:t>
            </a:r>
            <a:br/>
            <a:r>
              <a:t>cree automatiquement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40" y="1691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CCE"/>
                </a:solidFill>
                <a:latin typeface="Segoe UI"/>
              </a:defRPr>
            </a:pPr>
            <a:r>
              <a:t>--&gt;</a:t>
            </a:r>
          </a:p>
        </p:txBody>
      </p:sp>
      <p:sp>
        <p:nvSpPr>
          <p:cNvPr id="14" name="Oval 13"/>
          <p:cNvSpPr/>
          <p:nvPr/>
        </p:nvSpPr>
        <p:spPr>
          <a:xfrm>
            <a:off x="4892040" y="1554480"/>
            <a:ext cx="640080" cy="64008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286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C9A7"/>
                </a:solidFill>
                <a:latin typeface="Segoe UI"/>
              </a:defRPr>
            </a:pPr>
            <a:r>
              <a:t>SOUMETTRE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6060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L'agent soumet</a:t>
            </a:r>
            <a:br/>
            <a:r>
              <a:t>une correction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1691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CCE"/>
                </a:solidFill>
                <a:latin typeface="Segoe UI"/>
              </a:defRPr>
            </a:pPr>
            <a:r>
              <a:t>--&gt;</a:t>
            </a:r>
          </a:p>
        </p:txBody>
      </p:sp>
      <p:sp>
        <p:nvSpPr>
          <p:cNvPr id="18" name="Oval 17"/>
          <p:cNvSpPr/>
          <p:nvPr/>
        </p:nvSpPr>
        <p:spPr>
          <a:xfrm>
            <a:off x="6812280" y="1554480"/>
            <a:ext cx="640080" cy="64008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286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107"/>
                </a:solidFill>
                <a:latin typeface="Segoe UI"/>
              </a:defRPr>
            </a:pPr>
            <a:r>
              <a:t>VALIDER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6060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Le superviseur</a:t>
            </a:r>
            <a:br/>
            <a:r>
              <a:t>revise et approuve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1691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CCE"/>
                </a:solidFill>
                <a:latin typeface="Segoe UI"/>
              </a:defRPr>
            </a:pPr>
            <a:r>
              <a:t>--&gt;</a:t>
            </a:r>
          </a:p>
        </p:txBody>
      </p:sp>
      <p:sp>
        <p:nvSpPr>
          <p:cNvPr id="22" name="Oval 21"/>
          <p:cNvSpPr/>
          <p:nvPr/>
        </p:nvSpPr>
        <p:spPr>
          <a:xfrm>
            <a:off x="8732520" y="1554480"/>
            <a:ext cx="640080" cy="6400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286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6B35"/>
                </a:solidFill>
                <a:latin typeface="Segoe UI"/>
              </a:defRPr>
            </a:pPr>
            <a:r>
              <a:t>APPLIQUER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6060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Correction appliquee</a:t>
            </a:r>
            <a:br/>
            <a:r>
              <a:t>au systeme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38360" y="1691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CCE"/>
                </a:solidFill>
                <a:latin typeface="Segoe UI"/>
              </a:defRPr>
            </a:pPr>
            <a:r>
              <a:t>--&gt;</a:t>
            </a:r>
          </a:p>
        </p:txBody>
      </p:sp>
      <p:sp>
        <p:nvSpPr>
          <p:cNvPr id="26" name="Oval 25"/>
          <p:cNvSpPr/>
          <p:nvPr/>
        </p:nvSpPr>
        <p:spPr>
          <a:xfrm>
            <a:off x="10652760" y="1554480"/>
            <a:ext cx="640080" cy="640080"/>
          </a:xfrm>
          <a:prstGeom prst="ellipse">
            <a:avLst/>
          </a:prstGeom>
          <a:solidFill>
            <a:srgbClr val="E84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2286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4D8A"/>
                </a:solidFill>
                <a:latin typeface="Segoe UI"/>
              </a:defRPr>
            </a:pPr>
            <a:r>
              <a:t>RECONCILIER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26060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Synchronise avec</a:t>
            </a:r>
            <a:br/>
            <a:r>
              <a:t>le core banking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474720"/>
            <a:ext cx="10698480" cy="36576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1520" y="3657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9A7"/>
                </a:solidFill>
                <a:latin typeface="Segoe UI"/>
              </a:defRPr>
            </a:pPr>
            <a:r>
              <a:t>Controle d'Acces Base sur les Roles (RBAC)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114800"/>
            <a:ext cx="2560320" cy="2286000"/>
          </a:xfrm>
          <a:prstGeom prst="roundRect">
            <a:avLst/>
          </a:prstGeom>
          <a:solidFill>
            <a:srgbClr val="11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68680" y="4297680"/>
            <a:ext cx="2286000" cy="41148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ADMIN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463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Acces systeme complet</a:t>
            </a:r>
            <a:br/>
            <a:r>
              <a:t>Gestion utilisateurs &amp; config</a:t>
            </a:r>
            <a:br/>
            <a:r>
              <a:t>Creation de regles</a:t>
            </a:r>
            <a:br/>
            <a:r>
              <a:t>Toutes operations CRUD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566160" y="4114800"/>
            <a:ext cx="2560320" cy="2286000"/>
          </a:xfrm>
          <a:prstGeom prst="roundRect">
            <a:avLst/>
          </a:prstGeom>
          <a:solidFill>
            <a:srgbClr val="11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3703320" y="4297680"/>
            <a:ext cx="2286000" cy="41148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AUDITEUR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49040" y="48463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Acces lecture &amp; validation</a:t>
            </a:r>
            <a:br/>
            <a:r>
              <a:t>Approbation corrections (4-yeux)</a:t>
            </a:r>
            <a:br/>
            <a:r>
              <a:t>Consultation des rapports</a:t>
            </a:r>
            <a:br/>
            <a:r>
              <a:t>Autorite approbation FATCA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4114800"/>
            <a:ext cx="2560320" cy="2286000"/>
          </a:xfrm>
          <a:prstGeom prst="roundRect">
            <a:avLst/>
          </a:prstGeom>
          <a:solidFill>
            <a:srgbClr val="11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537960" y="4297680"/>
            <a:ext cx="2286000" cy="411480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UTILISATEUR AGENCE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8463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Vues limitees a l'agence</a:t>
            </a:r>
            <a:br/>
            <a:r>
              <a:t>Soumission de corrections</a:t>
            </a:r>
            <a:br/>
            <a:r>
              <a:t>Consultation tickets agence</a:t>
            </a:r>
            <a:br/>
            <a:r>
              <a:t>Demande de validation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35440" y="4114800"/>
            <a:ext cx="2560320" cy="2286000"/>
          </a:xfrm>
          <a:prstGeom prst="roundRect">
            <a:avLst/>
          </a:prstGeom>
          <a:solidFill>
            <a:srgbClr val="11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9372600" y="4297680"/>
            <a:ext cx="2286000" cy="411480"/>
          </a:xfrm>
          <a:prstGeom prst="roundRect">
            <a:avLst/>
          </a:prstGeom>
          <a:solidFill>
            <a:srgbClr val="B0BC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B1D3A"/>
                </a:solidFill>
                <a:latin typeface="Segoe UI"/>
              </a:defRPr>
            </a:pPr>
            <a:r>
              <a:t>UTILISATEUR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20" y="48463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Acces lecture de base</a:t>
            </a:r>
            <a:br/>
            <a:r>
              <a:t>Consultation propres donnees</a:t>
            </a:r>
            <a:br/>
            <a:r>
              <a:t>Soumission de demandes</a:t>
            </a:r>
            <a:br/>
            <a:r>
              <a:t>Permissions standard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73152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Integration Core Banking &amp; Reconciliation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Segoe UI"/>
              </a:defRPr>
            </a:pPr>
            <a:r>
              <a:t>"Connexion directe a votre core banking — zero silo de donnees."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303520" cy="4572000"/>
          </a:xfrm>
          <a:prstGeom prst="roundRect">
            <a:avLst/>
          </a:prstGeom>
          <a:solidFill>
            <a:srgbClr val="11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  <a:latin typeface="Segoe UI"/>
              </a:defRPr>
            </a:pPr>
            <a:r>
              <a:t>Architecture Systeme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331720"/>
            <a:ext cx="54864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2286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35"/>
                </a:solidFill>
                <a:latin typeface="Segoe UI"/>
              </a:defRPr>
            </a:pPr>
            <a:r>
              <a:t>Core Banking Informix (BSIC)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420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Connexion JDBC directe — clients, comptes, adresses, contacts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2971800"/>
            <a:ext cx="54864" cy="36576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20" y="2926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BFF"/>
                </a:solidFill>
                <a:latin typeface="Segoe UI"/>
              </a:defRPr>
            </a:pPr>
            <a:r>
              <a:t>Base de Donnees 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1821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Donnees qualite, anomalies, tickets, FATCA, journaux d'audit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3611880"/>
            <a:ext cx="54864" cy="3657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3566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A7"/>
                </a:solidFill>
                <a:latin typeface="Segoe UI"/>
              </a:defRPr>
            </a:pPr>
            <a:r>
              <a:t>Keycloak SSO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8221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Authentification OAuth2 — connexion unique entreprise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4251960"/>
            <a:ext cx="54864" cy="36576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88720" y="4206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C5CE7"/>
                </a:solidFill>
                <a:latin typeface="Segoe UI"/>
              </a:defRPr>
            </a:pPr>
            <a:r>
              <a:t>Flowable BPMN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4622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Moteur d'automatisation de workflows standard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4892040"/>
            <a:ext cx="54864" cy="3657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88720" y="4846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C107"/>
                </a:solidFill>
                <a:latin typeface="Segoe UI"/>
              </a:defRPr>
            </a:pPr>
            <a:r>
              <a:t>UiPath RPA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1023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Automatisation robotique des processus de correction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5532120"/>
            <a:ext cx="54864" cy="365760"/>
          </a:xfrm>
          <a:prstGeom prst="rect">
            <a:avLst/>
          </a:prstGeom>
          <a:solidFill>
            <a:srgbClr val="E84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88720" y="5486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4D8A"/>
                </a:solidFill>
                <a:latin typeface="Segoe UI"/>
              </a:defRPr>
            </a:pPr>
            <a:r>
              <a:t>Cache Redis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7424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Optimisation des performances pour tableaux de bord temps reel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1554480"/>
            <a:ext cx="5120640" cy="2103120"/>
          </a:xfrm>
          <a:prstGeom prst="roundRect">
            <a:avLst/>
          </a:prstGeom>
          <a:solidFill>
            <a:srgbClr val="11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  <a:latin typeface="Segoe UI"/>
              </a:defRPr>
            </a:pPr>
            <a:r>
              <a:t>Moteur de Reconciliation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19456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B0BCCE"/>
                </a:solidFill>
                <a:latin typeface="Segoe UI"/>
              </a:defRPr>
            </a:pPr>
            <a:r>
              <a:t>  Synchronisation bidirectionnelle (CBS &lt;-&gt; Application)</a:t>
            </a:r>
          </a:p>
          <a:p>
            <a:pPr>
              <a:spcAft>
                <a:spcPts val="300"/>
              </a:spcAft>
              <a:defRPr sz="1100">
                <a:solidFill>
                  <a:srgbClr val="B0BCCE"/>
                </a:solidFill>
                <a:latin typeface="Segoe UI"/>
              </a:defRPr>
            </a:pPr>
            <a:r>
              <a:t>  Reconciliation unitaire et par lots (jusqu'a 50)</a:t>
            </a:r>
          </a:p>
          <a:p>
            <a:pPr>
              <a:spcAft>
                <a:spcPts val="300"/>
              </a:spcAft>
              <a:defRPr sz="1100">
                <a:solidFill>
                  <a:srgbClr val="B0BCCE"/>
                </a:solidFill>
                <a:latin typeface="Segoe UI"/>
              </a:defRPr>
            </a:pPr>
            <a:r>
              <a:t>  Score de correspondance par enregistrement</a:t>
            </a:r>
          </a:p>
          <a:p>
            <a:pPr>
              <a:spcAft>
                <a:spcPts val="300"/>
              </a:spcAft>
              <a:defRPr sz="1100">
                <a:solidFill>
                  <a:srgbClr val="B0BCCE"/>
                </a:solidFill>
                <a:latin typeface="Segoe UI"/>
              </a:defRPr>
            </a:pPr>
            <a:r>
              <a:t>  Suivi des echecs et mecanisme de reessai</a:t>
            </a:r>
          </a:p>
          <a:p>
            <a:pPr>
              <a:spcAft>
                <a:spcPts val="300"/>
              </a:spcAft>
              <a:defRPr sz="1100">
                <a:solidFill>
                  <a:srgbClr val="B0BCCE"/>
                </a:solidFill>
                <a:latin typeface="Segoe UI"/>
              </a:defRPr>
            </a:pPr>
            <a:r>
              <a:t>  Historique et statistiques de reconciliation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840480"/>
            <a:ext cx="5120640" cy="2286000"/>
          </a:xfrm>
          <a:prstGeom prst="roundRect">
            <a:avLst/>
          </a:prstGeom>
          <a:solidFill>
            <a:srgbClr val="11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C107"/>
                </a:solidFill>
                <a:latin typeface="Segoe UI"/>
              </a:defRPr>
            </a:pPr>
            <a:r>
              <a:t>Automatisation RPA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48056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B0BCCE"/>
                </a:solidFill>
                <a:latin typeface="Segoe UI"/>
              </a:defRPr>
            </a:pPr>
            <a:r>
              <a:t>  Integration UiPath pour corrections automatisees</a:t>
            </a:r>
          </a:p>
          <a:p>
            <a:pPr>
              <a:spcAft>
                <a:spcPts val="300"/>
              </a:spcAft>
              <a:defRPr sz="1100">
                <a:solidFill>
                  <a:srgbClr val="B0BCCE"/>
                </a:solidFill>
                <a:latin typeface="Segoe UI"/>
              </a:defRPr>
            </a:pPr>
            <a:r>
              <a:t>  Suivi des jobs en temps reel (refresh auto 10s)</a:t>
            </a:r>
          </a:p>
          <a:p>
            <a:pPr>
              <a:spcAft>
                <a:spcPts val="300"/>
              </a:spcAft>
              <a:defRPr sz="1100">
                <a:solidFill>
                  <a:srgbClr val="B0BCCE"/>
                </a:solidFill>
                <a:latin typeface="Segoe UI"/>
              </a:defRPr>
            </a:pPr>
            <a:r>
              <a:t>  Auto-reparation avec reessai automatique</a:t>
            </a:r>
          </a:p>
          <a:p>
            <a:pPr>
              <a:spcAft>
                <a:spcPts val="300"/>
              </a:spcAft>
              <a:defRPr sz="1100">
                <a:solidFill>
                  <a:srgbClr val="B0BCCE"/>
                </a:solidFill>
                <a:latin typeface="Segoe UI"/>
              </a:defRPr>
            </a:pPr>
            <a:r>
              <a:t>  Tableau de bord statistiques pour suivi du ROI</a:t>
            </a:r>
          </a:p>
          <a:p>
            <a:pPr>
              <a:spcAft>
                <a:spcPts val="300"/>
              </a:spcAft>
              <a:defRPr sz="1100">
                <a:solidFill>
                  <a:srgbClr val="B0BCCE"/>
                </a:solidFill>
                <a:latin typeface="Segoe UI"/>
              </a:defRPr>
            </a:pPr>
            <a:r>
              <a:t>  Callbacks de statut pour visibilite de bout en bout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73152" cy="4572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Tableaux de Bord &amp; Analytique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5CE7"/>
                </a:solidFill>
                <a:latin typeface="Segoe UI"/>
              </a:defRPr>
            </a:pPr>
            <a:r>
              <a:t>"Des problemes bruts aux insights executifs en un clic."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560320" cy="3657600"/>
          </a:xfrm>
          <a:prstGeom prst="roundRect">
            <a:avLst/>
          </a:prstGeom>
          <a:solidFill>
            <a:srgbClr val="11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2560320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737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BFF"/>
                </a:solidFill>
                <a:latin typeface="Segoe UI"/>
              </a:defRPr>
            </a:pPr>
            <a:r>
              <a:t>Tableau de Bord Executif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9456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B0BCCE"/>
                </a:solidFill>
                <a:latin typeface="Segoe UI"/>
              </a:defRPr>
            </a:pPr>
            <a:r>
              <a:t>  Total clients par type</a:t>
            </a:r>
          </a:p>
          <a:p>
            <a:pPr>
              <a:spcAft>
                <a:spcPts val="500"/>
              </a:spcAft>
              <a:defRPr sz="1100">
                <a:solidFill>
                  <a:srgbClr val="B0BCCE"/>
                </a:solidFill>
                <a:latin typeface="Segoe UI"/>
              </a:defRPr>
            </a:pPr>
            <a:r>
              <a:t>  Compteurs et tendances anomalies</a:t>
            </a:r>
          </a:p>
          <a:p>
            <a:pPr>
              <a:spcAft>
                <a:spcPts val="500"/>
              </a:spcAft>
              <a:defRPr sz="1100">
                <a:solidFill>
                  <a:srgbClr val="B0BCCE"/>
                </a:solidFill>
                <a:latin typeface="Segoe UI"/>
              </a:defRPr>
            </a:pPr>
            <a:r>
              <a:t>  Vue d'ensemble FATCA</a:t>
            </a:r>
          </a:p>
          <a:p>
            <a:pPr>
              <a:spcAft>
                <a:spcPts val="500"/>
              </a:spcAft>
              <a:defRPr sz="1100">
                <a:solidFill>
                  <a:srgbClr val="B0BCCE"/>
                </a:solidFill>
                <a:latin typeface="Segoe UI"/>
              </a:defRPr>
            </a:pPr>
            <a:r>
              <a:t>  Tickets en attente</a:t>
            </a:r>
          </a:p>
          <a:p>
            <a:pPr>
              <a:spcAft>
                <a:spcPts val="500"/>
              </a:spcAft>
              <a:defRPr sz="1100">
                <a:solidFill>
                  <a:srgbClr val="B0BCCE"/>
                </a:solidFill>
                <a:latin typeface="Segoe UI"/>
              </a:defRPr>
            </a:pPr>
            <a:r>
              <a:t>  Metriques taux de correction</a:t>
            </a:r>
          </a:p>
          <a:p>
            <a:pPr>
              <a:spcAft>
                <a:spcPts val="500"/>
              </a:spcAft>
              <a:defRPr sz="1100">
                <a:solidFill>
                  <a:srgbClr val="B0BCCE"/>
                </a:solidFill>
                <a:latin typeface="Segoe UI"/>
              </a:defRPr>
            </a:pPr>
            <a:r>
              <a:t>  Widget anomalies recentes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554480"/>
            <a:ext cx="2560320" cy="3657600"/>
          </a:xfrm>
          <a:prstGeom prst="roundRect">
            <a:avLst/>
          </a:prstGeom>
          <a:solidFill>
            <a:srgbClr val="11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66160" y="1554480"/>
            <a:ext cx="2560320" cy="54864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94760" y="1737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5CE7"/>
                </a:solidFill>
                <a:latin typeface="Segoe UI"/>
              </a:defRPr>
            </a:pPr>
            <a:r>
              <a:t>Tableau de Bord KPI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219456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B0BCCE"/>
                </a:solidFill>
                <a:latin typeface="Segoe UI"/>
              </a:defRPr>
            </a:pPr>
            <a:r>
              <a:t>  Indicateurs cles de performance</a:t>
            </a:r>
          </a:p>
          <a:p>
            <a:pPr>
              <a:spcAft>
                <a:spcPts val="500"/>
              </a:spcAft>
              <a:defRPr sz="1100">
                <a:solidFill>
                  <a:srgbClr val="B0BCCE"/>
                </a:solidFill>
                <a:latin typeface="Segoe UI"/>
              </a:defRPr>
            </a:pPr>
            <a:r>
              <a:t>  KPI specifiques par agence</a:t>
            </a:r>
          </a:p>
          <a:p>
            <a:pPr>
              <a:spcAft>
                <a:spcPts val="500"/>
              </a:spcAft>
              <a:defRPr sz="1100">
                <a:solidFill>
                  <a:srgbClr val="B0BCCE"/>
                </a:solidFill>
                <a:latin typeface="Segoe UI"/>
              </a:defRPr>
            </a:pPr>
            <a:r>
              <a:t>  Analyse historique</a:t>
            </a:r>
          </a:p>
          <a:p>
            <a:pPr>
              <a:spcAft>
                <a:spcPts val="500"/>
              </a:spcAft>
              <a:defRPr sz="1100">
                <a:solidFill>
                  <a:srgbClr val="B0BCCE"/>
                </a:solidFill>
                <a:latin typeface="Segoe UI"/>
              </a:defRPr>
            </a:pPr>
            <a:r>
              <a:t>  Filtrage par plage de dates</a:t>
            </a:r>
          </a:p>
          <a:p>
            <a:pPr>
              <a:spcAft>
                <a:spcPts val="500"/>
              </a:spcAft>
              <a:defRPr sz="1100">
                <a:solidFill>
                  <a:srgbClr val="B0BCCE"/>
                </a:solidFill>
                <a:latin typeface="Segoe UI"/>
              </a:defRPr>
            </a:pPr>
            <a:r>
              <a:t>  Visualisation des tendances</a:t>
            </a:r>
          </a:p>
          <a:p>
            <a:pPr>
              <a:spcAft>
                <a:spcPts val="500"/>
              </a:spcAft>
              <a:defRPr sz="1100">
                <a:solidFill>
                  <a:srgbClr val="B0BCCE"/>
                </a:solidFill>
                <a:latin typeface="Segoe UI"/>
              </a:defRPr>
            </a:pPr>
            <a:r>
              <a:t>  Indicateurs de statut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554480"/>
            <a:ext cx="2560320" cy="3657600"/>
          </a:xfrm>
          <a:prstGeom prst="roundRect">
            <a:avLst/>
          </a:prstGeom>
          <a:solidFill>
            <a:srgbClr val="11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0" y="1554480"/>
            <a:ext cx="256032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29400" y="1737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9A7"/>
                </a:solidFill>
                <a:latin typeface="Segoe UI"/>
              </a:defRPr>
            </a:pPr>
            <a:r>
              <a:t>Performance Agences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19456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B0BCCE"/>
                </a:solidFill>
                <a:latin typeface="Segoe UI"/>
              </a:defRPr>
            </a:pPr>
            <a:r>
              <a:t>  Distribution anomalies par agence</a:t>
            </a:r>
          </a:p>
          <a:p>
            <a:pPr>
              <a:spcAft>
                <a:spcPts val="500"/>
              </a:spcAft>
              <a:defRPr sz="1100">
                <a:solidFill>
                  <a:srgbClr val="B0BCCE"/>
                </a:solidFill>
                <a:latin typeface="Segoe UI"/>
              </a:defRPr>
            </a:pPr>
            <a:r>
              <a:t>  Stats de correction par agence</a:t>
            </a:r>
          </a:p>
          <a:p>
            <a:pPr>
              <a:spcAft>
                <a:spcPts val="500"/>
              </a:spcAft>
              <a:defRPr sz="1100">
                <a:solidFill>
                  <a:srgbClr val="B0BCCE"/>
                </a:solidFill>
                <a:latin typeface="Segoe UI"/>
              </a:defRPr>
            </a:pPr>
            <a:r>
              <a:t>  Tendances hebdomadaires</a:t>
            </a:r>
          </a:p>
          <a:p>
            <a:pPr>
              <a:spcAft>
                <a:spcPts val="500"/>
              </a:spcAft>
              <a:defRPr sz="1100">
                <a:solidFill>
                  <a:srgbClr val="B0BCCE"/>
                </a:solidFill>
                <a:latin typeface="Segoe UI"/>
              </a:defRPr>
            </a:pPr>
            <a:r>
              <a:t>  Meilleurs/moins bons performers</a:t>
            </a:r>
          </a:p>
          <a:p>
            <a:pPr>
              <a:spcAft>
                <a:spcPts val="500"/>
              </a:spcAft>
              <a:defRPr sz="1100">
                <a:solidFill>
                  <a:srgbClr val="B0BCCE"/>
                </a:solidFill>
                <a:latin typeface="Segoe UI"/>
              </a:defRPr>
            </a:pPr>
            <a:r>
              <a:t>  Comparaison inter-agences</a:t>
            </a:r>
          </a:p>
          <a:p>
            <a:pPr>
              <a:spcAft>
                <a:spcPts val="500"/>
              </a:spcAft>
              <a:defRPr sz="1100">
                <a:solidFill>
                  <a:srgbClr val="B0BCCE"/>
                </a:solidFill>
                <a:latin typeface="Segoe UI"/>
              </a:defRPr>
            </a:pPr>
            <a:r>
              <a:t>  Metriques de responsabilite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554480"/>
            <a:ext cx="2560320" cy="3657600"/>
          </a:xfrm>
          <a:prstGeom prst="roundRect">
            <a:avLst/>
          </a:prstGeom>
          <a:solidFill>
            <a:srgbClr val="11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235440" y="1554480"/>
            <a:ext cx="2560320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64040" y="1737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C107"/>
                </a:solidFill>
                <a:latin typeface="Segoe UI"/>
              </a:defRPr>
            </a:pPr>
            <a:r>
              <a:t>Rapports &amp; Exports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219456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B0BCCE"/>
                </a:solidFill>
                <a:latin typeface="Segoe UI"/>
              </a:defRPr>
            </a:pPr>
            <a:r>
              <a:t>  Rapports qualite hebdomadaires</a:t>
            </a:r>
          </a:p>
          <a:p>
            <a:pPr>
              <a:spcAft>
                <a:spcPts val="500"/>
              </a:spcAft>
              <a:defRPr sz="1100">
                <a:solidFill>
                  <a:srgbClr val="B0BCCE"/>
                </a:solidFill>
                <a:latin typeface="Segoe UI"/>
              </a:defRPr>
            </a:pPr>
            <a:r>
              <a:t>  Generation PDF</a:t>
            </a:r>
          </a:p>
          <a:p>
            <a:pPr>
              <a:spcAft>
                <a:spcPts val="500"/>
              </a:spcAft>
              <a:defRPr sz="1100">
                <a:solidFill>
                  <a:srgbClr val="B0BCCE"/>
                </a:solidFill>
                <a:latin typeface="Segoe UI"/>
              </a:defRPr>
            </a:pPr>
            <a:r>
              <a:t>  Export tableau de bord Excel</a:t>
            </a:r>
          </a:p>
          <a:p>
            <a:pPr>
              <a:spcAft>
                <a:spcPts val="500"/>
              </a:spcAft>
              <a:defRPr sz="1100">
                <a:solidFill>
                  <a:srgbClr val="B0BCCE"/>
                </a:solidFill>
                <a:latin typeface="Segoe UI"/>
              </a:defRPr>
            </a:pPr>
            <a:r>
              <a:t>  Export donnees CSV</a:t>
            </a:r>
          </a:p>
          <a:p>
            <a:pPr>
              <a:spcAft>
                <a:spcPts val="500"/>
              </a:spcAft>
              <a:defRPr sz="1100">
                <a:solidFill>
                  <a:srgbClr val="B0BCCE"/>
                </a:solidFill>
                <a:latin typeface="Segoe UI"/>
              </a:defRPr>
            </a:pPr>
            <a:r>
              <a:t>  Statistiques de synthese</a:t>
            </a:r>
          </a:p>
          <a:p>
            <a:pPr>
              <a:spcAft>
                <a:spcPts val="500"/>
              </a:spcAft>
              <a:defRPr sz="1100">
                <a:solidFill>
                  <a:srgbClr val="B0BCCE"/>
                </a:solidFill>
                <a:latin typeface="Segoe UI"/>
              </a:defRPr>
            </a:pPr>
            <a:r>
              <a:t>  Reporting par date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486400"/>
            <a:ext cx="2560320" cy="822960"/>
          </a:xfrm>
          <a:prstGeom prst="roundRect">
            <a:avLst/>
          </a:prstGeom>
          <a:solidFill>
            <a:srgbClr val="11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55778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7BFF"/>
                </a:solidFill>
                <a:latin typeface="Segoe UI"/>
              </a:defRPr>
            </a:pPr>
            <a:r>
              <a:t>Temps Reel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8978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Donnees en direct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66160" y="5486400"/>
            <a:ext cx="2560320" cy="822960"/>
          </a:xfrm>
          <a:prstGeom prst="roundRect">
            <a:avLst/>
          </a:prstGeom>
          <a:solidFill>
            <a:srgbClr val="11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749040" y="55778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C5CE7"/>
                </a:solidFill>
                <a:latin typeface="Segoe UI"/>
              </a:defRPr>
            </a:pPr>
            <a:r>
              <a:t>Multi-Format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40" y="58978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PDF / Excel / CSV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5486400"/>
            <a:ext cx="2560320" cy="822960"/>
          </a:xfrm>
          <a:prstGeom prst="roundRect">
            <a:avLst/>
          </a:prstGeom>
          <a:solidFill>
            <a:srgbClr val="11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0" y="55778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C9A7"/>
                </a:solidFill>
                <a:latin typeface="Segoe UI"/>
              </a:defRPr>
            </a:pPr>
            <a:r>
              <a:t>Multi-Agences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8978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Vues par agence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35440" y="5486400"/>
            <a:ext cx="2560320" cy="822960"/>
          </a:xfrm>
          <a:prstGeom prst="roundRect">
            <a:avLst/>
          </a:prstGeom>
          <a:solidFill>
            <a:srgbClr val="11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418320" y="55778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107"/>
                </a:solidFill>
                <a:latin typeface="Segoe UI"/>
              </a:defRPr>
            </a:pPr>
            <a:r>
              <a:t>Historique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58978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Analyse de tendances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73152" cy="457200"/>
          </a:xfrm>
          <a:prstGeom prst="rect">
            <a:avLst/>
          </a:prstGeom>
          <a:solidFill>
            <a:srgbClr val="E84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Detection de Doublons &amp; Gestion des Donnees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303520" cy="4754880"/>
          </a:xfrm>
          <a:prstGeom prst="roundRect">
            <a:avLst/>
          </a:prstGeom>
          <a:solidFill>
            <a:srgbClr val="11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4D8A"/>
                </a:solidFill>
                <a:latin typeface="Segoe UI"/>
              </a:defRPr>
            </a:pPr>
            <a:r>
              <a:t>"Un client, un dossier — eliminez les doublons couteux."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2148840"/>
            <a:ext cx="54864" cy="457200"/>
          </a:xfrm>
          <a:prstGeom prst="rect">
            <a:avLst/>
          </a:prstGeom>
          <a:solidFill>
            <a:srgbClr val="E84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Detection Algorithmique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377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Des algorithmes avances trouvent les doublons que les humains manquent dans toute la base client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926080"/>
            <a:ext cx="54864" cy="457200"/>
          </a:xfrm>
          <a:prstGeom prst="rect">
            <a:avLst/>
          </a:prstGeom>
          <a:solidFill>
            <a:srgbClr val="E84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2880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Score de Confiance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154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Niveaux Haut / Moyen / Bas — priorisez les correspondances a haute confiance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3703320"/>
            <a:ext cx="54864" cy="457200"/>
          </a:xfrm>
          <a:prstGeom prst="rect">
            <a:avLst/>
          </a:prstGeom>
          <a:solidFill>
            <a:srgbClr val="E84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3657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Confirmation Manuelle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Aucune fusion erronee — validation humaine avant toute action de fusion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4480560"/>
            <a:ext cx="54864" cy="457200"/>
          </a:xfrm>
          <a:prstGeom prst="rect">
            <a:avLst/>
          </a:prstGeom>
          <a:solidFill>
            <a:srgbClr val="E84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88720" y="4434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Filtrage par 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709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Vues separees des doublons pour particuliers et entreprises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" y="5257799"/>
            <a:ext cx="54864" cy="457200"/>
          </a:xfrm>
          <a:prstGeom prst="rect">
            <a:avLst/>
          </a:prstGeom>
          <a:solidFill>
            <a:srgbClr val="E84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88720" y="521207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Tableau de Bord Stats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48639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Suivi total, en attente, confirmes et progression de la deduplication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1371600"/>
            <a:ext cx="5120640" cy="2286000"/>
          </a:xfrm>
          <a:prstGeom prst="roundRect">
            <a:avLst/>
          </a:prstGeom>
          <a:solidFill>
            <a:srgbClr val="11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FF"/>
                </a:solidFill>
                <a:latin typeface="Segoe UI"/>
              </a:defRPr>
            </a:pPr>
            <a:r>
              <a:t>Import de Donnees Flexible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0116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B0BCCE"/>
                </a:solidFill>
                <a:latin typeface="Segoe UI"/>
              </a:defRPr>
            </a:pPr>
            <a:r>
              <a:t>  Upload CSV avec validation automatique</a:t>
            </a:r>
          </a:p>
          <a:p>
            <a:pPr>
              <a:spcAft>
                <a:spcPts val="300"/>
              </a:spcAft>
              <a:defRPr sz="1100">
                <a:solidFill>
                  <a:srgbClr val="B0BCCE"/>
                </a:solidFill>
                <a:latin typeface="Segoe UI"/>
              </a:defRPr>
            </a:pPr>
            <a:r>
              <a:t>  Traitement de fichiers Excel</a:t>
            </a:r>
          </a:p>
          <a:p>
            <a:pPr>
              <a:spcAft>
                <a:spcPts val="300"/>
              </a:spcAft>
              <a:defRPr sz="1100">
                <a:solidFill>
                  <a:srgbClr val="B0BCCE"/>
                </a:solidFill>
                <a:latin typeface="Segoe UI"/>
              </a:defRPr>
            </a:pPr>
            <a:r>
              <a:t>  Historique d'upload avec suivi des erreurs</a:t>
            </a:r>
          </a:p>
          <a:p>
            <a:pPr>
              <a:spcAft>
                <a:spcPts val="300"/>
              </a:spcAft>
              <a:defRPr sz="1100">
                <a:solidFill>
                  <a:srgbClr val="B0BCCE"/>
                </a:solidFill>
                <a:latin typeface="Segoe UI"/>
              </a:defRPr>
            </a:pPr>
            <a:r>
              <a:t>  Monitoring du temps d'execution</a:t>
            </a:r>
          </a:p>
          <a:p>
            <a:pPr>
              <a:spcAft>
                <a:spcPts val="300"/>
              </a:spcAft>
              <a:defRPr sz="1100">
                <a:solidFill>
                  <a:srgbClr val="B0BCCE"/>
                </a:solidFill>
                <a:latin typeface="Segoe UI"/>
              </a:defRPr>
            </a:pPr>
            <a:r>
              <a:t>  Traitement par lots des enregistrements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3840480"/>
            <a:ext cx="5120640" cy="2286000"/>
          </a:xfrm>
          <a:prstGeom prst="roundRect">
            <a:avLst/>
          </a:prstGeom>
          <a:solidFill>
            <a:srgbClr val="11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A7"/>
                </a:solidFill>
                <a:latin typeface="Segoe UI"/>
              </a:defRPr>
            </a:pPr>
            <a:r>
              <a:t>Securite Entreprise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297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C9A7"/>
                </a:solidFill>
                <a:latin typeface="Segoe UI"/>
              </a:defRPr>
            </a:pPr>
            <a:r>
              <a:t>"Securite integree — pas ajoutee apres coup."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6634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B0BCCE"/>
                </a:solidFill>
                <a:latin typeface="Segoe UI"/>
              </a:defRPr>
            </a:pPr>
            <a:r>
              <a:t>  Keycloak SSO (OAuth2) — connexion unique</a:t>
            </a:r>
          </a:p>
          <a:p>
            <a:pPr>
              <a:spcAft>
                <a:spcPts val="300"/>
              </a:spcAft>
              <a:defRPr sz="1100">
                <a:solidFill>
                  <a:srgbClr val="B0BCCE"/>
                </a:solidFill>
                <a:latin typeface="Segoe UI"/>
              </a:defRPr>
            </a:pPr>
            <a:r>
              <a:t>  Synchronisation LDAP/Active Directory</a:t>
            </a:r>
          </a:p>
          <a:p>
            <a:pPr>
              <a:spcAft>
                <a:spcPts val="300"/>
              </a:spcAft>
              <a:defRPr sz="1100">
                <a:solidFill>
                  <a:srgbClr val="B0BCCE"/>
                </a:solidFill>
                <a:latin typeface="Segoe UI"/>
              </a:defRPr>
            </a:pPr>
            <a:r>
              <a:t>  Cookies de session HttpOnly (anti-XSS)</a:t>
            </a:r>
          </a:p>
          <a:p>
            <a:pPr>
              <a:spcAft>
                <a:spcPts val="300"/>
              </a:spcAft>
              <a:defRPr sz="1100">
                <a:solidFill>
                  <a:srgbClr val="B0BCCE"/>
                </a:solidFill>
                <a:latin typeface="Segoe UI"/>
              </a:defRPr>
            </a:pPr>
            <a:r>
              <a:t>  Journalisation complete (IP, user-agent, horodatage)</a:t>
            </a:r>
          </a:p>
          <a:p>
            <a:pPr>
              <a:spcAft>
                <a:spcPts val="300"/>
              </a:spcAft>
              <a:defRPr sz="1100">
                <a:solidFill>
                  <a:srgbClr val="B0BCCE"/>
                </a:solidFill>
                <a:latin typeface="Segoe UI"/>
              </a:defRPr>
            </a:pPr>
            <a:r>
              <a:t>  Hachage mot de passe bcrypt</a:t>
            </a:r>
          </a:p>
          <a:p>
            <a:pPr>
              <a:spcAft>
                <a:spcPts val="300"/>
              </a:spcAft>
              <a:defRPr sz="1100">
                <a:solidFill>
                  <a:srgbClr val="B0BCCE"/>
                </a:solidFill>
                <a:latin typeface="Segoe UI"/>
              </a:defRPr>
            </a:pPr>
            <a:r>
              <a:t>  90+ points API REST pour l'integration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73152" cy="4572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Architecture Multi-Agences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A7"/>
                </a:solidFill>
                <a:latin typeface="Segoe UI"/>
              </a:defRPr>
            </a:pPr>
            <a:r>
              <a:t>"Scalable de 1 agence a 500 — meme plateforme."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554480"/>
            <a:ext cx="5760720" cy="1463040"/>
          </a:xfrm>
          <a:prstGeom prst="roundRect">
            <a:avLst/>
          </a:prstGeom>
          <a:solidFill>
            <a:srgbClr val="11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0" y="1554480"/>
            <a:ext cx="5760720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  <a:latin typeface="Segoe UI"/>
              </a:defRPr>
            </a:pPr>
            <a:r>
              <a:t>SIEGE — Vue Globale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1031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Tableaux de bord inter-agences  |  KPI globaux  |  Toutes anomalies  |  Gestion utilisateurs</a:t>
            </a:r>
            <a:br/>
            <a:r>
              <a:t>Supervision FATCA  |  Configuration systeme  |  Generation de rapports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83280"/>
            <a:ext cx="2560320" cy="2194560"/>
          </a:xfrm>
          <a:prstGeom prst="roundRect">
            <a:avLst/>
          </a:prstGeom>
          <a:solidFill>
            <a:srgbClr val="11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3383280"/>
            <a:ext cx="256032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566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A7"/>
                </a:solidFill>
                <a:latin typeface="Segoe UI"/>
              </a:defRPr>
            </a:pPr>
            <a:r>
              <a:t>Agence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93192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Donnees de l'agence</a:t>
            </a:r>
            <a:br/>
            <a:r>
              <a:t>Ses anomalies</a:t>
            </a:r>
            <a:br/>
            <a:r>
              <a:t>Corrections locales</a:t>
            </a:r>
            <a:br/>
            <a:r>
              <a:t>FATCA local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3383280"/>
            <a:ext cx="2560320" cy="2194560"/>
          </a:xfrm>
          <a:prstGeom prst="roundRect">
            <a:avLst/>
          </a:prstGeom>
          <a:solidFill>
            <a:srgbClr val="11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566160" y="3383280"/>
            <a:ext cx="256032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40480" y="3566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A7"/>
                </a:solidFill>
                <a:latin typeface="Segoe UI"/>
              </a:defRPr>
            </a:pPr>
            <a:r>
              <a:t>Agence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93192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Donnees de l'agence</a:t>
            </a:r>
            <a:br/>
            <a:r>
              <a:t>Ses anomalies</a:t>
            </a:r>
            <a:br/>
            <a:r>
              <a:t>Corrections locales</a:t>
            </a:r>
            <a:br/>
            <a:r>
              <a:t>FATCA local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383280"/>
            <a:ext cx="2560320" cy="2194560"/>
          </a:xfrm>
          <a:prstGeom prst="roundRect">
            <a:avLst/>
          </a:prstGeom>
          <a:solidFill>
            <a:srgbClr val="11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0" y="3383280"/>
            <a:ext cx="256032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5120" y="3566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A7"/>
                </a:solidFill>
                <a:latin typeface="Segoe UI"/>
              </a:defRPr>
            </a:pPr>
            <a:r>
              <a:t>Agence 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93192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Donnees de l'agence</a:t>
            </a:r>
            <a:br/>
            <a:r>
              <a:t>Ses anomalies</a:t>
            </a:r>
            <a:br/>
            <a:r>
              <a:t>Corrections locales</a:t>
            </a:r>
            <a:br/>
            <a:r>
              <a:t>FATCA local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3383280"/>
            <a:ext cx="2560320" cy="2194560"/>
          </a:xfrm>
          <a:prstGeom prst="roundRect">
            <a:avLst/>
          </a:prstGeom>
          <a:solidFill>
            <a:srgbClr val="11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235440" y="3383280"/>
            <a:ext cx="256032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509760" y="3566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A7"/>
                </a:solidFill>
                <a:latin typeface="Segoe UI"/>
              </a:defRPr>
            </a:pPr>
            <a:r>
              <a:t>Agence N...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393192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Donnees de l'agence</a:t>
            </a:r>
            <a:br/>
            <a:r>
              <a:t>Ses anomalies</a:t>
            </a:r>
            <a:br/>
            <a:r>
              <a:t>Corrections locales</a:t>
            </a:r>
            <a:br/>
            <a:r>
              <a:t>FATCA local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3017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CCE"/>
                </a:solidFill>
                <a:latin typeface="Segoe UI"/>
              </a:defRPr>
            </a:pPr>
            <a:r>
              <a:t>|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3017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CCE"/>
                </a:solidFill>
                <a:latin typeface="Segoe UI"/>
              </a:defRPr>
            </a:pPr>
            <a:r>
              <a:t>|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3017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CCE"/>
                </a:solidFill>
                <a:latin typeface="Segoe UI"/>
              </a:defRPr>
            </a:pPr>
            <a:r>
              <a:t>|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3017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CCE"/>
                </a:solidFill>
                <a:latin typeface="Segoe UI"/>
              </a:defRPr>
            </a:pPr>
            <a:r>
              <a:t>|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760720"/>
            <a:ext cx="10698480" cy="822960"/>
          </a:xfrm>
          <a:prstGeom prst="roundRect">
            <a:avLst/>
          </a:prstGeom>
          <a:solidFill>
            <a:srgbClr val="11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97280" y="5989320"/>
            <a:ext cx="54864" cy="3657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280160" y="5943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Zero config par agence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40480" y="5989320"/>
            <a:ext cx="54864" cy="3657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023360" y="5943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Isolation automatique des donnees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5989320"/>
            <a:ext cx="54864" cy="3657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766560" y="5943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Responsabilite par agence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26880" y="5989320"/>
            <a:ext cx="54864" cy="3657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509760" y="5943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Visibilite totale siege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73152" cy="4572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Top 5 Raisons de Choisir BanK Data Quality Monitor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325880"/>
            <a:ext cx="548640" cy="54864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280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C107"/>
                </a:solidFill>
                <a:latin typeface="Segoe UI"/>
              </a:defRPr>
            </a:pPr>
            <a:r>
              <a:t>Conformite Reglementaire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45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Segoe UI"/>
              </a:defRPr>
            </a:pPr>
            <a:r>
              <a:t>Filtrage FATCA + validation 4-yeux + piste d'audit complete — toujours pret pour l'inspection. Respectez les exigences IRS et reglementaires locales sans effort manuel.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377440"/>
            <a:ext cx="548640" cy="54864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331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FF"/>
                </a:solidFill>
                <a:latin typeface="Segoe UI"/>
              </a:defRPr>
            </a:pPr>
            <a:r>
              <a:t>Automatisation de Bout en Bout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697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Segoe UI"/>
              </a:defRPr>
            </a:pPr>
            <a:r>
              <a:t>De la detection a la reconciliation — pipeline entierement automatise. L'integration RPA elimine la re-saisie manuelle entre les systemes.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428999"/>
            <a:ext cx="548640" cy="5486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38327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  <a:latin typeface="Segoe UI"/>
              </a:defRPr>
            </a:pPr>
            <a:r>
              <a:t>Integration Core Banking Directe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7490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Segoe UI"/>
              </a:defRPr>
            </a:pPr>
            <a:r>
              <a:t>Connexion directe a Informix/BSIC via JDBC — pas de middleware, zero silo de donnees. Les corrections alimentent directement le systeme source.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480560"/>
            <a:ext cx="548640" cy="54864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434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A7"/>
                </a:solidFill>
                <a:latin typeface="Segoe UI"/>
              </a:defRPr>
            </a:pPr>
            <a:r>
              <a:t>Scalabilite Multi-Agences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800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Segoe UI"/>
              </a:defRPr>
            </a:pPr>
            <a:r>
              <a:t>Responsabilite au niveau agence avec visibilite du siege. Meme plateforme pour 1 ou 500+ agences, zero configuration par agence.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532120"/>
            <a:ext cx="548640" cy="54864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5486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5CE7"/>
                </a:solidFill>
                <a:latin typeface="Segoe UI"/>
              </a:defRPr>
            </a:pPr>
            <a:r>
              <a:t>ROI Mesurable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852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CCE"/>
                </a:solidFill>
                <a:latin typeface="Segoe UI"/>
              </a:defRPr>
            </a:pPr>
            <a:r>
              <a:t>Tableaux de bord KPI qui prouvent l'amelioration de la qualite des donnees. Suivez les taux de correction, la performance des agences et les metriques de conformite.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081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456626" y="1533001"/>
            <a:ext cx="338328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8745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Pret a Transformer </a:t>
            </a:r>
            <a:r>
              <a:rPr dirty="0" err="1"/>
              <a:t>Votre</a:t>
            </a:r>
            <a:r>
              <a:rPr dirty="0"/>
              <a:t> </a:t>
            </a:r>
            <a:r>
              <a:rPr dirty="0" err="1"/>
              <a:t>Qualite</a:t>
            </a:r>
            <a:r>
              <a:rPr dirty="0"/>
              <a:t> de </a:t>
            </a:r>
            <a:r>
              <a:rPr dirty="0" err="1"/>
              <a:t>Donnees</a:t>
            </a:r>
            <a:r>
              <a:rPr dirty="0"/>
              <a:t>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29184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CCE"/>
                </a:solidFill>
                <a:latin typeface="Segoe UI"/>
              </a:defRPr>
            </a:pPr>
            <a:r>
              <a:rPr dirty="0"/>
              <a:t>Laissez-nous vous </a:t>
            </a:r>
            <a:r>
              <a:rPr dirty="0" err="1"/>
              <a:t>montrer</a:t>
            </a:r>
            <a:r>
              <a:rPr dirty="0"/>
              <a:t> comment </a:t>
            </a:r>
            <a:r>
              <a:rPr dirty="0" err="1"/>
              <a:t>BanK</a:t>
            </a:r>
            <a:r>
              <a:rPr dirty="0"/>
              <a:t> Data Quality Monitor </a:t>
            </a:r>
            <a:r>
              <a:rPr dirty="0" err="1"/>
              <a:t>peut</a:t>
            </a:r>
            <a:r>
              <a:rPr dirty="0"/>
              <a:t> aider </a:t>
            </a:r>
            <a:r>
              <a:rPr dirty="0" err="1"/>
              <a:t>votre</a:t>
            </a:r>
            <a:br>
              <a:rPr dirty="0"/>
            </a:br>
            <a:r>
              <a:rPr dirty="0" err="1"/>
              <a:t>etablissement</a:t>
            </a:r>
            <a:r>
              <a:rPr dirty="0"/>
              <a:t> a </a:t>
            </a:r>
            <a:r>
              <a:rPr dirty="0" err="1"/>
              <a:t>atteindre</a:t>
            </a:r>
            <a:r>
              <a:rPr dirty="0"/>
              <a:t> la </a:t>
            </a:r>
            <a:r>
              <a:rPr dirty="0" err="1"/>
              <a:t>conformite</a:t>
            </a:r>
            <a:r>
              <a:rPr dirty="0"/>
              <a:t> </a:t>
            </a:r>
            <a:r>
              <a:rPr dirty="0" err="1"/>
              <a:t>reglementaire</a:t>
            </a:r>
            <a:r>
              <a:rPr dirty="0"/>
              <a:t> et </a:t>
            </a:r>
            <a:r>
              <a:rPr dirty="0" err="1"/>
              <a:t>l'excellence</a:t>
            </a:r>
            <a:r>
              <a:rPr dirty="0"/>
              <a:t> </a:t>
            </a:r>
            <a:r>
              <a:rPr dirty="0" err="1"/>
              <a:t>operationnelle</a:t>
            </a:r>
            <a:r>
              <a:rPr dirty="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4389120"/>
            <a:ext cx="4846320" cy="1371600"/>
          </a:xfrm>
          <a:prstGeom prst="roundRect">
            <a:avLst/>
          </a:prstGeom>
          <a:solidFill>
            <a:srgbClr val="11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931920" y="457200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C9A7"/>
                </a:solidFill>
                <a:latin typeface="Segoe UI"/>
              </a:defRPr>
            </a:pPr>
            <a:r>
              <a:t>Demander une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502920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CCE"/>
                </a:solidFill>
                <a:latin typeface="Segoe UI"/>
              </a:defRPr>
            </a:pPr>
            <a:r>
              <a:t>Contactez notre equipe pour une demonstration personnalisee</a:t>
            </a:r>
            <a:br/>
            <a:r>
              <a:t>adaptee a votre environnement bancaire.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603504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BFF"/>
                </a:solidFill>
                <a:latin typeface="Segoe UI"/>
              </a:defRPr>
            </a:pPr>
            <a:r>
              <a:t>BanK Data Quality Monitor — Detecter. Corriger. Se Conformer.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1592</Words>
  <Application>Microsoft Office PowerPoint</Application>
  <PresentationFormat>Widescreen</PresentationFormat>
  <Paragraphs>278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adama bocoum</cp:lastModifiedBy>
  <cp:revision>2</cp:revision>
  <dcterms:created xsi:type="dcterms:W3CDTF">2013-01-27T09:14:16Z</dcterms:created>
  <dcterms:modified xsi:type="dcterms:W3CDTF">2026-03-21T15:17:59Z</dcterms:modified>
  <cp:category/>
</cp:coreProperties>
</file>